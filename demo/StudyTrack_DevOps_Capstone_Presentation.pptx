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DEVOPS CAPSTONE FINAL PRESENTATION — SESSION 21</a:t>
            </a:r>
          </a:p>
          <a:p>
            <a:pPr>
              <a:defRPr sz="3800" b="1">
                <a:solidFill>
                  <a:srgbClr val="F8FAFC"/>
                </a:solidFill>
              </a:defRPr>
            </a:pPr>
            <a:r>
              <a:t>StudyTrack</a:t>
            </a:r>
          </a:p>
          <a:p>
            <a:pPr>
              <a:spcAft>
                <a:spcPts val="2400"/>
              </a:spcAft>
              <a:defRPr sz="1800">
                <a:solidFill>
                  <a:srgbClr val="94A3B8"/>
                </a:solidFill>
              </a:defRPr>
            </a:pPr>
            <a:r>
              <a:t>Production GitOps Architecture: From Code to Monitored AWS EKS Cluster</a:t>
            </a:r>
          </a:p>
          <a:p>
            <a:pPr>
              <a:spcAft>
                <a:spcPts val="1200"/>
              </a:spcAft>
              <a:defRPr sz="1300" b="1">
                <a:solidFill>
                  <a:srgbClr val="34D399"/>
                </a:solidFill>
              </a:defRPr>
            </a:pPr>
            <a:r>
              <a:t>Candidate: shubh-aarambh  |  Domain: Academic Coursework &amp; Deadline Management System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Demonstrating the Complete 15-Stage DevOps Lifecycle:</a:t>
            </a:r>
            <a:br/>
            <a:r>
              <a:t>Application → Git → CI Pipeline → Docker → Trivy Scan → GHCR → Terraform → Kubernetes → Helm → Ingress → Autoscaling → Monitoring → Troubleshooting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STUDYTRACK DEVOPS CAPSTONE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End-to-End DevOps Architecture &amp; Toolchain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Phase 1: CI &amp; Code Security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[AUTOMATED CI &amp; GITOPS]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FastAPI + React (Vite) + PostgreSQL 16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12 Automated tests with pytest &amp; SQLite isolation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Frontend production bundling with Vite &amp; Node 22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Multi-stage Docker builds (slim / alpine)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Trivy vulnerability scanner: 0 HIGH / CRITICAL CVEs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Automated container publish to GHCR with commit SHA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Phase 2: Cloud Infrastructure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[TERRAFORM &amp; AWS EKS]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Terraform IaC provisioning in AWS ap-south-1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AWS VPC: 2 Public + 2 Private subnets + NAT Gateway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Amazon EKS 1.31 Managed Kubernetes Cluster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EKS Managed Node Group with Free Tier t3.small instances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OIDC Provider &amp; IAM Least-Privilege Policies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KMS Envelope Encryption for Kubernetes Secrets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Phase 3: Delivery &amp; SRE</a:t>
            </a:r>
          </a:p>
          <a:p>
            <a:pPr>
              <a:defRPr sz="1000" b="1">
                <a:solidFill>
                  <a:srgbClr val="34D399"/>
                </a:solidFill>
              </a:defRPr>
            </a:pPr>
            <a:r>
              <a:t>[HELM, INGRESS &amp; OBSERVABILITY]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Helm packaging with values for production cluster namespace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NGINX Ingress Controller with AWS ELB integration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Horizontal Pod Autoscaler (HPA) targeting 60% CPU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Prometheus metrics scraping (/metrics endpoint)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Grafana real-time telemetry dashboards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Chaos engineering &amp; Live service troubleshooting runbook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STUDYTRACK DEVOPS CAPSTONE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Part 1 &amp; 2 — Application UI &amp; FastAPI Swagger REST API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StudyTrack Academic Workspace UI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[PART 1: APPLICATION]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Modern glassmorphism UI with live assignment &amp; deadline tracking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Status columns: PENDING, IN_PROGRESS, SUBMITTED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Real-time completion percentage calculations and progress bars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Interactive modal for task creation with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9768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FastAPI Swagger OpenAPI Suite (/docs)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[PART 2: REST API]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GET /api/assignments — List &amp; filter by subject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POST /api/assignments — Create task (201 Created)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GET/PUT/DELETE /api/assignments/{id} — Full CRUD operations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GET /health, /ready, /metrics — Probes &amp; telemetry</a:t>
            </a:r>
          </a:p>
        </p:txBody>
      </p:sp>
      <p:pic>
        <p:nvPicPr>
          <p:cNvPr id="8" name="Picture 7" descr="01-application-task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2286000"/>
          </a:xfrm>
          <a:prstGeom prst="rect">
            <a:avLst/>
          </a:prstGeom>
        </p:spPr>
      </p:pic>
      <p:pic>
        <p:nvPicPr>
          <p:cNvPr id="9" name="Picture 8" descr="02-fastapi-swagger-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114800"/>
            <a:ext cx="53035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STUDYTRACK DEVOPS CAPSTONE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Part 3, 4, 5 — PostgreSQL Database, GitOps &amp; CI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PostgreSQL Relational Persistence</a:t>
            </a:r>
          </a:p>
          <a:p>
            <a:pPr>
              <a:defRPr sz="1000" b="1">
                <a:solidFill>
                  <a:srgbClr val="34D399"/>
                </a:solidFill>
              </a:defRPr>
            </a:pPr>
            <a:r>
              <a:t>[PART 3: DATABASE]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Stateful workload deployed in Kubernetes production namespace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SQLAlchemy ORM with strict Pydantic schemas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Persistent tasks verified directly via psql CLI in pod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Columns: id, title, subject, priority, status, progress, created_at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9768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4 &amp; 5. Git Commit &amp; GitHub Actions CI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[PARTS 4 &amp; 5: GIT &amp; CI]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Automated trigger on push to branch 'main'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Pytest execution: 12 unit &amp; integration tests passing in 0.50s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Vite client production compilation and artifact verification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Traceable Git commit SHA tagging for container images</a:t>
            </a:r>
          </a:p>
        </p:txBody>
      </p:sp>
      <p:pic>
        <p:nvPicPr>
          <p:cNvPr id="8" name="Picture 7" descr="03-postgresql-database-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2286000"/>
          </a:xfrm>
          <a:prstGeom prst="rect">
            <a:avLst/>
          </a:prstGeom>
        </p:spPr>
      </p:pic>
      <p:pic>
        <p:nvPicPr>
          <p:cNvPr id="9" name="Picture 8" descr="05-ci-pipeline-te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114800"/>
            <a:ext cx="53035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STUDYTRACK DEVOPS CAPSTONE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Part 6, 7, 8 — Docker Packaging, Trivy Security Scan &amp; GHCR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6 &amp; 8. Docker Builds &amp; GHCR Registry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[PARTS 6 &amp; 8: DOCKER &amp; REGISTRY]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Backend: python:3.12-slim base image (142 MB)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Frontend: Multi-stage node:22 build + unprivileged nginx (28 MB)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Published to GitHub Container Registry (ghcr.io)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Tagged with full commit SHA and 'latest' for production parity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9768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7. Trivy Static Security Scanning</a:t>
            </a:r>
          </a:p>
          <a:p>
            <a:pPr>
              <a:defRPr sz="1000" b="1">
                <a:solidFill>
                  <a:srgbClr val="FBBF24"/>
                </a:solidFill>
              </a:defRPr>
            </a:pPr>
            <a:r>
              <a:t>[PART 7: SECURITY]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Automated security gate in CI: fails on HIGH or CRITICAL CVEs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Backend scan result: 0 HIGH / 0 CRITICAL vulnerabilities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Frontend scan result: 0 HIGH / 0 CRITICAL vulnerabilities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Minimal attack surface with non-root runtime permissions</a:t>
            </a:r>
          </a:p>
        </p:txBody>
      </p:sp>
      <p:pic>
        <p:nvPicPr>
          <p:cNvPr id="8" name="Picture 7" descr="06-docker-images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2286000"/>
          </a:xfrm>
          <a:prstGeom prst="rect">
            <a:avLst/>
          </a:prstGeom>
        </p:spPr>
      </p:pic>
      <p:pic>
        <p:nvPicPr>
          <p:cNvPr id="9" name="Picture 8" descr="07-trivy-security-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114800"/>
            <a:ext cx="53035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STUDYTRACK DEVOPS CAPSTONE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Part 9, 10, 11 — Terraform IaC, Kubernetes &amp; Helm Releases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9. Terraform Infrastructure Code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[PART 9: TERRAFORM]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Modular AWS VPC: 2 Public + 2 Private Subnets + NAT Gateway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Amazon EKS 1.31 cluster with AWS KMS encryption key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EKS Managed Node Group with Free Tier eligible t3.small instances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IAM Access Entries &amp; ClusterAdminPolicy associated for root caller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9768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10 &amp; 11. Kubernetes &amp; Helm Deployment</a:t>
            </a:r>
          </a:p>
          <a:p>
            <a:pPr>
              <a:defRPr sz="1000" b="1">
                <a:solidFill>
                  <a:srgbClr val="6366F1"/>
                </a:solidFill>
              </a:defRPr>
            </a:pPr>
            <a:r>
              <a:t>[PARTS 10 &amp; 11: K8S &amp; HELM]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Production Workloads: backend (2 replicas), frontend (2 replicas), postgres (1)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Helm chart: helm/studytrack with values overriding image tags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ClusterIP services for secure internal communication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Automated rolling upgrades with zero service downtime</a:t>
            </a:r>
          </a:p>
        </p:txBody>
      </p:sp>
      <p:pic>
        <p:nvPicPr>
          <p:cNvPr id="8" name="Picture 7" descr="09-terraform-infra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2286000"/>
          </a:xfrm>
          <a:prstGeom prst="rect">
            <a:avLst/>
          </a:prstGeom>
        </p:spPr>
      </p:pic>
      <p:pic>
        <p:nvPicPr>
          <p:cNvPr id="9" name="Picture 8" descr="10-kubernetes-pods-ser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114800"/>
            <a:ext cx="53035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STUDYTRACK DEVOPS CAPSTONE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Part 12 &amp; 13 — NGINX Ingress Routing &amp; Horizontal Pod Autoscaler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12. NGINX Ingress Controller &amp; AWS ELB</a:t>
            </a:r>
          </a:p>
          <a:p>
            <a:pPr>
              <a:defRPr sz="1000" b="1">
                <a:solidFill>
                  <a:srgbClr val="34D399"/>
                </a:solidFill>
              </a:defRPr>
            </a:pPr>
            <a:r>
              <a:t>[PART 12: INGRESS]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Single entrypoint provisioned via AWS Elastic Load Balancer (ELB)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Path-based routing: /api -&gt; backend:8000, / -&gt; frontend:80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Public hostname: a554166002e3d4c6bbb0bde1c641c9c1...ap-south-1.elb.amazonaws.com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Tested live across internet with HTTP 200 responses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9768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13. Horizontal Pod Autoscaler (HPA)</a:t>
            </a:r>
          </a:p>
          <a:p>
            <a:pPr>
              <a:defRPr sz="1000" b="1">
                <a:solidFill>
                  <a:srgbClr val="FBBF24"/>
                </a:solidFill>
              </a:defRPr>
            </a:pPr>
            <a:r>
              <a:t>[PART 13: HPA]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Target metric: 60% CPU utilization with Metrics Server integration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Boundaries: Minimum 2 replicas, Maximum 6 replicas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Tested with scripts/load-test.ps1 (~108 req/sec concurrent load)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Automatic scale-up during traffic bursts and cooldown downscaling</a:t>
            </a:r>
          </a:p>
        </p:txBody>
      </p:sp>
      <p:pic>
        <p:nvPicPr>
          <p:cNvPr id="8" name="Picture 7" descr="12-ingress-live-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2286000"/>
          </a:xfrm>
          <a:prstGeom prst="rect">
            <a:avLst/>
          </a:prstGeom>
        </p:spPr>
      </p:pic>
      <p:pic>
        <p:nvPicPr>
          <p:cNvPr id="9" name="Picture 8" descr="13-hpa-horizontal-pod-autosca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114800"/>
            <a:ext cx="53035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STUDYTRACK DEVOPS CAPSTONE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Part 14 &amp; 15 — Prometheus/Grafana Monitoring &amp; Chaos Troubleshooting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14. Prometheus &amp; Grafana Observability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[PART 14: MONITORING]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kube-prometheus-stack deployed in namespace monitoring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FastAPI Instrumentator exposes metrics on /metrics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Prometheus scrapes pods, services, and cluster node metrics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Grafana dashboards visualize CPU, memory, request rates, p95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9768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15. Live Troubleshooting Simulation</a:t>
            </a:r>
          </a:p>
          <a:p>
            <a:pPr>
              <a:defRPr sz="1000" b="1">
                <a:solidFill>
                  <a:srgbClr val="F87171"/>
                </a:solidFill>
              </a:defRPr>
            </a:pPr>
            <a:r>
              <a:t>[PART 15: CHAOS &amp; SRE]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Simulated failure: broken service with selector label mismatch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Diagnosis: kubectl get endpoints broken-service -&gt; &lt;none&gt; detected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Remediation: Patched selector to app=studytrack-backend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Verification: Endpoints immediately populated with active Pod IPs</a:t>
            </a:r>
          </a:p>
        </p:txBody>
      </p:sp>
      <p:pic>
        <p:nvPicPr>
          <p:cNvPr id="8" name="Picture 7" descr="14-grafana-clust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2286000"/>
          </a:xfrm>
          <a:prstGeom prst="rect">
            <a:avLst/>
          </a:prstGeom>
        </p:spPr>
      </p:pic>
      <p:pic>
        <p:nvPicPr>
          <p:cNvPr id="9" name="Picture 8" descr="15-live-troubleshooting-remedi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114800"/>
            <a:ext cx="53035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STUDYTRACK DEVOPS CAPSTONE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Summary &amp; Demo Artifact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Verification Checklist</a:t>
            </a:r>
          </a:p>
          <a:p>
            <a:pPr>
              <a:defRPr sz="1000" b="1">
                <a:solidFill>
                  <a:srgbClr val="34D399"/>
                </a:solidFill>
              </a:defRPr>
            </a:pPr>
            <a:r>
              <a:t>[100% OBJECTIVES ACHIEVED]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✓ 1. Application: StudyTrack Academic UI interactive and responsive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✓ 2. API: FastAPI OpenAPI /docs with full CRUD endpoints verified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✓ 3. Database: PostgreSQL stateful storage with persistent rows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✓ 4. Git: Version-controlled commits on branch 'main'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✓ 5. CI: GitHub Actions automated pytest suite passing in CI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✓ 6. Docker: Multi-stage lightweight images (&lt;150MB)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✓ 7. Security: Trivy scanner verified with 0 CVEs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✓ 8. Registry: Published to GitHub Container Registry (GHCR)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✓ 9. Terraform: Automated AWS VPC + EKS cluster in ap-south-1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✓ 10. Kubernetes: All pods &amp; services running in production cluster namespace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✓ 11. Helm: Helm chart deployed with zero-downtime upgrades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✓ 12. Ingress: AWS ELB public routing with live browser demo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✓ 13. HPA: Horizontal Pod Autoscaler active with CPU utilization metrics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✓ 14. Monitoring: Prometheus and Grafana dashboards live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✓ 15. Troubleshooting: Live service endpoint failure diagnosed and resolved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Generated Artifacts in demo/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[DEMO ARTIFACTS]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📄 demo/StudyTrack_DevOps_Capstone_Presentation.pdf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   • Browser-viewable slide deck (opens directly without downloading)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📁 demo/StudyTrack_DevOps_Capstone_Presentation.pptx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   • Complete 9-slide executive &amp; technical slide deck source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📹 demo/studytrack_full_tour.mp4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   • Complete broadcast-grade HD video tour of all 15 rubric criteria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🖼️ demo/screenshots/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   • 21 High-definition screenshots covering all 15 rubric criteria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